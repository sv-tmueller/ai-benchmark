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embedTrueTypeFonts="1">
  <p:sldMasterIdLst>
    <p:sldMasterId id="2147483648" r:id="rId5"/>
  </p:sldMasterIdLst>
  <p:notesMasterIdLst>
    <p:notesMasterId r:id="rId12"/>
  </p:notesMasterIdLst>
  <p:handoutMasterIdLst>
    <p:handoutMasterId r:id="rId13"/>
  </p:handoutMasterIdLst>
  <p:sldIdLst>
    <p:sldId id="258" r:id="rId6"/>
    <p:sldId id="259" r:id="rId11"/>
    <p:sldId id="260" r:id="rId10"/>
    <p:sldId id="261" r:id="rId9"/>
    <p:sldId id="262" r:id="rId8"/>
    <p:sldId id="263" r:id="rId7"/>
    <p:sldId id="264" r:id="rId22"/>
    <p:sldId id="265" r:id="rId23"/>
    <p:sldId id="266" r:id="rId24"/>
    <p:sldId id="267" r:id="rId25"/>
    <p:sldId id="268" r:id="rId26"/>
    <p:sldId id="269" r:id="rId27"/>
    <p:sldId id="270" r:id="rId28"/>
  </p:sldIdLst>
  <p:sldSz cx="12192000" cy="6858000"/>
  <p:notesSz cx="6858000" cy="9144000"/>
  <p:embeddedFontLst>
    <p:embeddedFont>
      <p:font typeface="Grandview"/>
      <p:regular r:id="rId20"/>
      <p:bold r:id="rId21"/>
    </p:embeddedFont>
  </p:embeddedFontLst>
  <p:custDataLst>
    <p:tags r:id="rId14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1595" userDrawn="1">
          <p15:clr>
            <a:srgbClr val="A4A3A4"/>
          </p15:clr>
        </p15:guide>
        <p15:guide id="2" pos="1141" userDrawn="1">
          <p15:clr>
            <a:srgbClr val="A4A3A4"/>
          </p15:clr>
        </p15:guide>
        <p15:guide id="3" orient="horz" pos="3906" userDrawn="1">
          <p15:clr>
            <a:srgbClr val="A4A3A4"/>
          </p15:clr>
        </p15:guide>
        <p15:guide id="4" pos="325" userDrawn="1">
          <p15:clr>
            <a:srgbClr val="A4A3A4"/>
          </p15:clr>
        </p15:guide>
        <p15:guide id="5" pos="3364" userDrawn="1">
          <p15:clr>
            <a:srgbClr val="A4A3A4"/>
          </p15:clr>
        </p15:guide>
        <p15:guide id="6" pos="30" userDrawn="1">
          <p15:clr>
            <a:srgbClr val="A4A3A4"/>
          </p15:clr>
        </p15:guide>
        <p15:guide id="7" orient="horz" pos="1502" userDrawn="1">
          <p15:clr>
            <a:srgbClr val="A4A3A4"/>
          </p15:clr>
        </p15:guide>
        <p15:guide id="8" orient="horz" pos="1888" userDrawn="1">
          <p15:clr>
            <a:srgbClr val="A4A3A4"/>
          </p15:clr>
        </p15:guide>
        <p15:guide id="9" orient="horz" pos="2341" userDrawn="1">
          <p15:clr>
            <a:srgbClr val="A4A3A4"/>
          </p15:clr>
        </p15:guide>
        <p15:guide id="10" orient="horz" pos="958" userDrawn="1">
          <p15:clr>
            <a:srgbClr val="A4A3A4"/>
          </p15:clr>
        </p15:guide>
        <p15:guide id="11" orient="horz" pos="1774" userDrawn="1">
          <p15:clr>
            <a:srgbClr val="A4A3A4"/>
          </p15:clr>
        </p15:guide>
        <p15:guide id="12" orient="horz" pos="2546" userDrawn="1">
          <p15:clr>
            <a:srgbClr val="A4A3A4"/>
          </p15:clr>
        </p15:guide>
        <p15:guide id="13" orient="horz" pos="1366" userDrawn="1">
          <p15:clr>
            <a:srgbClr val="A4A3A4"/>
          </p15:clr>
        </p15:guide>
        <p15:guide id="14" orient="horz" pos="2886" userDrawn="1">
          <p15:clr>
            <a:srgbClr val="A4A3A4"/>
          </p15:clr>
        </p15:guide>
        <p15:guide id="15" orient="horz" pos="3045" userDrawn="1">
          <p15:clr>
            <a:srgbClr val="A4A3A4"/>
          </p15:clr>
        </p15:guide>
        <p15:guide id="16" orient="horz" pos="3543" userDrawn="1">
          <p15:clr>
            <a:srgbClr val="A4A3A4"/>
          </p15:clr>
        </p15:guide>
        <p15:guide id="17" orient="horz" pos="338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70824"/>
    <a:srgbClr val="C0C2C2"/>
    <a:srgbClr val="7D8284"/>
    <a:srgbClr val="BFC1C2"/>
    <a:srgbClr val="E9EAEB"/>
    <a:srgbClr val="E9EAEA"/>
    <a:srgbClr val="BEC0C1"/>
    <a:srgbClr val="293133"/>
    <a:srgbClr val="2A3133"/>
    <a:srgbClr val="E4B5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3973BB-C971-48D3-A736-B9BFC9C91E84}" v="24" dt="2023-03-16T07:42:39.4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893"/>
    <p:restoredTop sz="94658"/>
  </p:normalViewPr>
  <p:slideViewPr>
    <p:cSldViewPr snapToGrid="0">
      <p:cViewPr varScale="1">
        <p:scale>
          <a:sx n="118" d="100"/>
          <a:sy n="118" d="100"/>
        </p:scale>
        <p:origin x="248" y="240"/>
      </p:cViewPr>
      <p:guideLst>
        <p:guide pos="1595"/>
        <p:guide pos="1141"/>
        <p:guide orient="horz" pos="3906"/>
        <p:guide pos="325"/>
        <p:guide pos="3364"/>
        <p:guide pos="30"/>
        <p:guide orient="horz" pos="1502"/>
        <p:guide orient="horz" pos="1888"/>
        <p:guide orient="horz" pos="2341"/>
        <p:guide orient="horz" pos="958"/>
        <p:guide orient="horz" pos="1774"/>
        <p:guide orient="horz" pos="2546"/>
        <p:guide orient="horz" pos="1366"/>
        <p:guide orient="horz" pos="2886"/>
        <p:guide orient="horz" pos="3045"/>
        <p:guide orient="horz" pos="3543"/>
        <p:guide orient="horz" pos="338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6.xml"/><Relationship Id="rId8" Type="http://schemas.openxmlformats.org/officeDocument/2006/relationships/slide" Target="slides/slide5.xml"/><Relationship Id="rId9" Type="http://schemas.openxmlformats.org/officeDocument/2006/relationships/slide" Target="slides/slide4.xml"/><Relationship Id="rId10" Type="http://schemas.openxmlformats.org/officeDocument/2006/relationships/slide" Target="slides/slide3.xml"/><Relationship Id="rId11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tags" Target="tags/tag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5/10/relationships/revisionInfo" Target="revisionInfo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6B743192-581B-4070-A854-D78FD7F6B4D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>
              <a:latin typeface="Grandview" panose="020B0502040204020203" pitchFamily="34" charset="0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0089B21-3850-4AA4-9C46-02587078498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08C2BC-9108-429D-B170-9885EA74B599}" type="datetimeFigureOut">
              <a:rPr lang="de-AT" smtClean="0">
                <a:latin typeface="Grandview" panose="020B0502040204020203" pitchFamily="34" charset="0"/>
              </a:rPr>
              <a:t>16.06.26</a:t>
            </a:fld>
            <a:endParaRPr lang="de-AT">
              <a:latin typeface="Grandview" panose="020B0502040204020203" pitchFamily="34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AFC4324-55B3-4580-91F3-7BB7CA0004D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>
              <a:latin typeface="Grandview" panose="020B0502040204020203" pitchFamily="34" charset="0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7DC994D-9028-4051-85BC-89193A849B4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548A78-8CB3-4E83-BA74-A180053C4D9A}" type="slidenum">
              <a:rPr lang="de-AT" smtClean="0">
                <a:latin typeface="Grandview" panose="020B0502040204020203" pitchFamily="34" charset="0"/>
              </a:rPr>
              <a:t>‹#›</a:t>
            </a:fld>
            <a:endParaRPr lang="de-AT">
              <a:latin typeface="Grandview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59361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Grandview" panose="020B0502040204020203" pitchFamily="34" charset="0"/>
              </a:defRPr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Grandview" panose="020B0502040204020203" pitchFamily="34" charset="0"/>
              </a:defRPr>
            </a:lvl1pPr>
          </a:lstStyle>
          <a:p>
            <a:fld id="{19B808AC-D5FA-456D-A8F5-35B1D9EC5AEE}" type="datetimeFigureOut">
              <a:rPr lang="de-AT" smtClean="0"/>
              <a:pPr/>
              <a:t>16.06.26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Grandview" panose="020B0502040204020203" pitchFamily="34" charset="0"/>
              </a:defRPr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Grandview" panose="020B0502040204020203" pitchFamily="34" charset="0"/>
              </a:defRPr>
            </a:lvl1pPr>
          </a:lstStyle>
          <a:p>
            <a:fld id="{E13A4F17-E7A3-48A5-9BCB-8CA2EAF873E9}" type="slidenum">
              <a:rPr lang="de-AT" smtClean="0"/>
              <a:pPr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899220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Grandview" panose="020B0502040204020203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Grandview" panose="020B0502040204020203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Grandview" panose="020B0502040204020203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Grandview" panose="020B0502040204020203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Grandview" panose="020B05020402040202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claudio.krueger@solvvision.de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>
            <a:extLst>
              <a:ext uri="{FF2B5EF4-FFF2-40B4-BE49-F238E27FC236}">
                <a16:creationId xmlns:a16="http://schemas.microsoft.com/office/drawing/2014/main" id="{76851D02-CC2B-784C-BDB2-5265AEFB2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1" y="1881188"/>
            <a:ext cx="10834609" cy="671512"/>
          </a:xfrm>
        </p:spPr>
        <p:txBody>
          <a:bodyPr>
            <a:normAutofit/>
          </a:bodyPr>
          <a:lstStyle>
            <a:lvl1pPr>
              <a:defRPr sz="5000" b="1"/>
            </a:lvl1pPr>
          </a:lstStyle>
          <a:p>
            <a:r>
              <a:rPr lang="en-US"/>
              <a:t>Click to edit Master title style</a:t>
            </a:r>
            <a:endParaRPr lang="de-AT"/>
          </a:p>
        </p:txBody>
      </p:sp>
      <p:pic>
        <p:nvPicPr>
          <p:cNvPr id="9" name="Grafik 3" descr="Ein Bild, das Text, ClipArt, Vektorgrafiken enthält.&#10;&#10;Automatisch generierte Beschreibung">
            <a:extLst>
              <a:ext uri="{FF2B5EF4-FFF2-40B4-BE49-F238E27FC236}">
                <a16:creationId xmlns:a16="http://schemas.microsoft.com/office/drawing/2014/main" id="{E0B4822B-22D1-0244-AC0C-45BF7CB1A5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8515" y="6163527"/>
            <a:ext cx="468000" cy="468000"/>
          </a:xfrm>
          <a:prstGeom prst="rect">
            <a:avLst/>
          </a:prstGeom>
        </p:spPr>
      </p:pic>
      <p:pic>
        <p:nvPicPr>
          <p:cNvPr id="10" name="Grafik 8">
            <a:extLst>
              <a:ext uri="{FF2B5EF4-FFF2-40B4-BE49-F238E27FC236}">
                <a16:creationId xmlns:a16="http://schemas.microsoft.com/office/drawing/2014/main" id="{EEFB262A-373F-AA4E-A945-0873E50B9F2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773" y="524948"/>
            <a:ext cx="2412000" cy="479437"/>
          </a:xfrm>
          <a:prstGeom prst="rect">
            <a:avLst/>
          </a:prstGeom>
        </p:spPr>
      </p:pic>
      <p:sp>
        <p:nvSpPr>
          <p:cNvPr id="11" name="Textplatzhalter 4">
            <a:extLst>
              <a:ext uri="{FF2B5EF4-FFF2-40B4-BE49-F238E27FC236}">
                <a16:creationId xmlns:a16="http://schemas.microsoft.com/office/drawing/2014/main" id="{81D977B0-3814-6541-B0C8-22165F46E4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4961" y="2552700"/>
            <a:ext cx="10834608" cy="67151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ußzeilenplatzhalter 2">
            <a:extLst>
              <a:ext uri="{FF2B5EF4-FFF2-40B4-BE49-F238E27FC236}">
                <a16:creationId xmlns:a16="http://schemas.microsoft.com/office/drawing/2014/main" id="{F6EA849E-A0D7-0178-D5CC-E02948E2B9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500" y="627579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Grandview" panose="020B0502040204020203" pitchFamily="34" charset="0"/>
              </a:defRPr>
            </a:lvl1pPr>
          </a:lstStyle>
          <a:p>
            <a:r>
              <a:rPr lang="de-DE">
                <a:latin typeface="Grandview" panose="020B0502040204020203" pitchFamily="34" charset="0"/>
              </a:rPr>
              <a:t>© SOLVVision GmbH</a:t>
            </a:r>
          </a:p>
        </p:txBody>
      </p:sp>
      <p:sp>
        <p:nvSpPr>
          <p:cNvPr id="12" name="KI-Hinweis"/>
          <p:cNvSpPr txBox="1"/>
          <p:nvPr userDrawn="1"/>
        </p:nvSpPr>
        <p:spPr>
          <a:xfrm>
            <a:off x="4432300" y="6275794"/>
            <a:ext cx="3327400" cy="365125"/>
          </a:xfrm>
          <a:prstGeom prst="rect">
            <a:avLst/>
          </a:prstGeom>
          <a:noFill/>
        </p:spPr>
        <p:txBody>
          <a:bodyPr wrap="none" lIns="0" rIns="0" rtlCol="0" anchor="ctr"/>
          <a:lstStyle/>
          <a:p>
            <a:pPr algn="ctr"/>
            <a:r>
              <a:rPr lang="de-DE" sz="900" dirty="0">
                <a:solidFill>
                  <a:srgbClr val="7F8385"/>
                </a:solidFill>
                <a:latin typeface="Grandview" panose="020B0502040204020203" pitchFamily="34" charset="0"/>
              </a:rPr>
              <a:t>This document was created with the support of AI.</a:t>
            </a:r>
          </a:p>
        </p:txBody>
      </p:sp>
    </p:spTree>
    <p:extLst>
      <p:ext uri="{BB962C8B-B14F-4D97-AF65-F5344CB8AC3E}">
        <p14:creationId xmlns:p14="http://schemas.microsoft.com/office/powerpoint/2010/main" val="2608711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>
            <a:extLst>
              <a:ext uri="{FF2B5EF4-FFF2-40B4-BE49-F238E27FC236}">
                <a16:creationId xmlns:a16="http://schemas.microsoft.com/office/drawing/2014/main" id="{76851D02-CC2B-784C-BDB2-5265AEFB2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1" y="3437906"/>
            <a:ext cx="10683797" cy="671512"/>
          </a:xfrm>
        </p:spPr>
        <p:txBody>
          <a:bodyPr>
            <a:noAutofit/>
          </a:bodyPr>
          <a:lstStyle>
            <a:lvl1pPr>
              <a:defRPr sz="4000" b="1"/>
            </a:lvl1pPr>
          </a:lstStyle>
          <a:p>
            <a:r>
              <a:rPr lang="en-US"/>
              <a:t>Click to edit Master title style</a:t>
            </a:r>
            <a:endParaRPr lang="de-AT"/>
          </a:p>
        </p:txBody>
      </p:sp>
      <p:pic>
        <p:nvPicPr>
          <p:cNvPr id="9" name="Grafik 3" descr="Ein Bild, das Text, ClipArt, Vektorgrafiken enthält.&#10;&#10;Automatisch generierte Beschreibung">
            <a:extLst>
              <a:ext uri="{FF2B5EF4-FFF2-40B4-BE49-F238E27FC236}">
                <a16:creationId xmlns:a16="http://schemas.microsoft.com/office/drawing/2014/main" id="{E0B4822B-22D1-0244-AC0C-45BF7CB1A5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8515" y="6163527"/>
            <a:ext cx="468000" cy="468000"/>
          </a:xfrm>
          <a:prstGeom prst="rect">
            <a:avLst/>
          </a:prstGeom>
        </p:spPr>
      </p:pic>
      <p:pic>
        <p:nvPicPr>
          <p:cNvPr id="10" name="Grafik 8">
            <a:extLst>
              <a:ext uri="{FF2B5EF4-FFF2-40B4-BE49-F238E27FC236}">
                <a16:creationId xmlns:a16="http://schemas.microsoft.com/office/drawing/2014/main" id="{EEFB262A-373F-AA4E-A945-0873E50B9F2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773" y="524948"/>
            <a:ext cx="2412000" cy="479437"/>
          </a:xfrm>
          <a:prstGeom prst="rect">
            <a:avLst/>
          </a:prstGeom>
        </p:spPr>
      </p:pic>
      <p:sp>
        <p:nvSpPr>
          <p:cNvPr id="11" name="Textplatzhalter 4">
            <a:extLst>
              <a:ext uri="{FF2B5EF4-FFF2-40B4-BE49-F238E27FC236}">
                <a16:creationId xmlns:a16="http://schemas.microsoft.com/office/drawing/2014/main" id="{81D977B0-3814-6541-B0C8-22165F46E4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4961" y="4109418"/>
            <a:ext cx="10683796" cy="67151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2B92A725-675F-F479-C8A3-6CAD9DF98F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500" y="627579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Grandview" panose="020B0502040204020203" pitchFamily="34" charset="0"/>
              </a:defRPr>
            </a:lvl1pPr>
          </a:lstStyle>
          <a:p>
            <a:r>
              <a:rPr lang="de-DE">
                <a:latin typeface="Grandview" panose="020B0502040204020203" pitchFamily="34" charset="0"/>
              </a:rPr>
              <a:t>© SOLVVision GmbH</a:t>
            </a:r>
          </a:p>
        </p:txBody>
      </p:sp>
      <p:sp>
        <p:nvSpPr>
          <p:cNvPr id="12" name="KI-Hinweis"/>
          <p:cNvSpPr txBox="1"/>
          <p:nvPr userDrawn="1"/>
        </p:nvSpPr>
        <p:spPr>
          <a:xfrm>
            <a:off x="4432300" y="6275794"/>
            <a:ext cx="3327400" cy="365125"/>
          </a:xfrm>
          <a:prstGeom prst="rect">
            <a:avLst/>
          </a:prstGeom>
          <a:noFill/>
        </p:spPr>
        <p:txBody>
          <a:bodyPr wrap="none" lIns="0" rIns="0" rtlCol="0" anchor="ctr"/>
          <a:lstStyle/>
          <a:p>
            <a:pPr algn="ctr"/>
            <a:r>
              <a:rPr lang="de-DE" sz="900" dirty="0">
                <a:solidFill>
                  <a:srgbClr val="7F8385"/>
                </a:solidFill>
                <a:latin typeface="Grandview" panose="020B0502040204020203" pitchFamily="34" charset="0"/>
              </a:rPr>
              <a:t>This document was created with the support of AI.</a:t>
            </a:r>
          </a:p>
        </p:txBody>
      </p:sp>
    </p:spTree>
    <p:extLst>
      <p:ext uri="{BB962C8B-B14F-4D97-AF65-F5344CB8AC3E}">
        <p14:creationId xmlns:p14="http://schemas.microsoft.com/office/powerpoint/2010/main" val="807613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BF3501-D631-4746-91CD-A784A16722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963" y="333375"/>
            <a:ext cx="11018835" cy="8858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de-AT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de-AT"/>
          </a:p>
        </p:txBody>
      </p:sp>
      <p:pic>
        <p:nvPicPr>
          <p:cNvPr id="8" name="Grafik 7" descr="Ein Bild, das Text, ClipArt, Vektorgrafiken enthält.&#10;&#10;Automatisch generierte Beschreibung">
            <a:extLst>
              <a:ext uri="{FF2B5EF4-FFF2-40B4-BE49-F238E27FC236}">
                <a16:creationId xmlns:a16="http://schemas.microsoft.com/office/drawing/2014/main" id="{C29B931B-4808-46A3-B511-9B7983FAF3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8515" y="6163527"/>
            <a:ext cx="468000" cy="468000"/>
          </a:xfrm>
          <a:prstGeom prst="rect">
            <a:avLst/>
          </a:prstGeom>
        </p:spPr>
      </p:pic>
      <p:sp>
        <p:nvSpPr>
          <p:cNvPr id="7" name="Foliennummernplatzhalter 2">
            <a:extLst>
              <a:ext uri="{FF2B5EF4-FFF2-40B4-BE49-F238E27FC236}">
                <a16:creationId xmlns:a16="http://schemas.microsoft.com/office/drawing/2014/main" id="{4540EB90-4A3D-4685-A17F-E26FFAD29F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3797" y="333738"/>
            <a:ext cx="682627" cy="275862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0E40EEB2-94EA-48F0-9B08-6FEB6C71BF29}" type="slidenum">
              <a:rPr lang="de-AT" smtClean="0"/>
              <a:pPr/>
              <a:t>‹#›</a:t>
            </a:fld>
            <a:endParaRPr lang="de-AT"/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433898A3-DC81-074A-830D-C3A4B813413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334961" y="1444830"/>
            <a:ext cx="11018834" cy="518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1200"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/>
              <a:t>Erste Ebene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E3C0A89-F658-753C-EA6D-D2FA706CAF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500" y="627579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Grandview" panose="020B0502040204020203" pitchFamily="34" charset="0"/>
              </a:defRPr>
            </a:lvl1pPr>
          </a:lstStyle>
          <a:p>
            <a:r>
              <a:rPr lang="de-DE">
                <a:latin typeface="Grandview" panose="020B0502040204020203" pitchFamily="34" charset="0"/>
              </a:rPr>
              <a:t>© SOLVVision GmbH</a:t>
            </a:r>
          </a:p>
        </p:txBody>
      </p:sp>
      <p:sp>
        <p:nvSpPr>
          <p:cNvPr id="17" name="KI-Hinweis"/>
          <p:cNvSpPr txBox="1"/>
          <p:nvPr userDrawn="1"/>
        </p:nvSpPr>
        <p:spPr>
          <a:xfrm>
            <a:off x="4432300" y="6275794"/>
            <a:ext cx="3327400" cy="365125"/>
          </a:xfrm>
          <a:prstGeom prst="rect">
            <a:avLst/>
          </a:prstGeom>
          <a:noFill/>
        </p:spPr>
        <p:txBody>
          <a:bodyPr wrap="none" lIns="0" rIns="0" rtlCol="0" anchor="ctr"/>
          <a:lstStyle/>
          <a:p>
            <a:pPr algn="ctr"/>
            <a:r>
              <a:rPr lang="de-DE" sz="900" dirty="0">
                <a:solidFill>
                  <a:srgbClr val="7F8385"/>
                </a:solidFill>
                <a:latin typeface="Grandview" panose="020B0502040204020203" pitchFamily="34" charset="0"/>
              </a:rPr>
              <a:t>This document was created with the support of AI.</a:t>
            </a:r>
          </a:p>
        </p:txBody>
      </p:sp>
    </p:spTree>
    <p:extLst>
      <p:ext uri="{BB962C8B-B14F-4D97-AF65-F5344CB8AC3E}">
        <p14:creationId xmlns:p14="http://schemas.microsoft.com/office/powerpoint/2010/main" val="40652030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7537" userDrawn="1">
          <p15:clr>
            <a:srgbClr val="FBAE40"/>
          </p15:clr>
        </p15:guide>
        <p15:guide id="3" orient="horz" pos="1185" userDrawn="1">
          <p15:clr>
            <a:srgbClr val="FBAE40"/>
          </p15:clr>
        </p15:guide>
        <p15:guide id="4" pos="7582" userDrawn="1">
          <p15:clr>
            <a:srgbClr val="FBAE40"/>
          </p15:clr>
        </p15:guide>
        <p15:guide id="5" orient="horz" pos="2160" userDrawn="1">
          <p15:clr>
            <a:srgbClr val="FBAE40"/>
          </p15:clr>
        </p15:guide>
        <p15:guide id="6" orient="horz" pos="27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BF3501-D631-4746-91CD-A784A16722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963" y="333375"/>
            <a:ext cx="11018835" cy="8858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de-AT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de-AT"/>
          </a:p>
        </p:txBody>
      </p:sp>
      <p:pic>
        <p:nvPicPr>
          <p:cNvPr id="8" name="Grafik 7" descr="Ein Bild, das Text, ClipArt, Vektorgrafiken enthält.&#10;&#10;Automatisch generierte Beschreibung">
            <a:extLst>
              <a:ext uri="{FF2B5EF4-FFF2-40B4-BE49-F238E27FC236}">
                <a16:creationId xmlns:a16="http://schemas.microsoft.com/office/drawing/2014/main" id="{C29B931B-4808-46A3-B511-9B7983FAF3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8515" y="6163527"/>
            <a:ext cx="468000" cy="468000"/>
          </a:xfrm>
          <a:prstGeom prst="rect">
            <a:avLst/>
          </a:prstGeom>
        </p:spPr>
      </p:pic>
      <p:sp>
        <p:nvSpPr>
          <p:cNvPr id="7" name="Foliennummernplatzhalter 2">
            <a:extLst>
              <a:ext uri="{FF2B5EF4-FFF2-40B4-BE49-F238E27FC236}">
                <a16:creationId xmlns:a16="http://schemas.microsoft.com/office/drawing/2014/main" id="{4540EB90-4A3D-4685-A17F-E26FFAD29F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3797" y="333738"/>
            <a:ext cx="682627" cy="275862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0E40EEB2-94EA-48F0-9B08-6FEB6C71BF29}" type="slidenum">
              <a:rPr lang="de-AT" smtClean="0"/>
              <a:pPr/>
              <a:t>‹#›</a:t>
            </a:fld>
            <a:endParaRPr lang="de-AT"/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BD1FF382-DD41-1749-868E-32E33734C3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53797" y="1444830"/>
            <a:ext cx="5400000" cy="518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1200"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/>
              <a:t>Erste Ebene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74A50F3A-F33F-BD42-82AC-D120FCE6EC0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334961" y="1444830"/>
            <a:ext cx="5400000" cy="518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1200"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/>
              <a:t>Erste Ebene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B78C251-7D05-3381-499F-54494F9F5F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500" y="627579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Grandview" panose="020B0502040204020203" pitchFamily="34" charset="0"/>
              </a:defRPr>
            </a:lvl1pPr>
          </a:lstStyle>
          <a:p>
            <a:r>
              <a:rPr lang="de-DE">
                <a:latin typeface="Grandview" panose="020B0502040204020203" pitchFamily="34" charset="0"/>
              </a:rPr>
              <a:t>© SOLVVision GmbH</a:t>
            </a:r>
          </a:p>
        </p:txBody>
      </p:sp>
      <p:sp>
        <p:nvSpPr>
          <p:cNvPr id="12" name="KI-Hinweis"/>
          <p:cNvSpPr txBox="1"/>
          <p:nvPr userDrawn="1"/>
        </p:nvSpPr>
        <p:spPr>
          <a:xfrm>
            <a:off x="4432300" y="6275794"/>
            <a:ext cx="3327400" cy="365125"/>
          </a:xfrm>
          <a:prstGeom prst="rect">
            <a:avLst/>
          </a:prstGeom>
          <a:noFill/>
        </p:spPr>
        <p:txBody>
          <a:bodyPr wrap="none" lIns="0" rIns="0" rtlCol="0" anchor="ctr"/>
          <a:lstStyle/>
          <a:p>
            <a:pPr algn="ctr"/>
            <a:r>
              <a:rPr lang="de-DE" sz="900" dirty="0">
                <a:solidFill>
                  <a:srgbClr val="7F8385"/>
                </a:solidFill>
                <a:latin typeface="Grandview" panose="020B0502040204020203" pitchFamily="34" charset="0"/>
              </a:rPr>
              <a:t>This document was created with the support of AI.</a:t>
            </a:r>
          </a:p>
        </p:txBody>
      </p:sp>
    </p:spTree>
    <p:extLst>
      <p:ext uri="{BB962C8B-B14F-4D97-AF65-F5344CB8AC3E}">
        <p14:creationId xmlns:p14="http://schemas.microsoft.com/office/powerpoint/2010/main" val="29346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7537" userDrawn="1">
          <p15:clr>
            <a:srgbClr val="FBAE40"/>
          </p15:clr>
        </p15:guide>
        <p15:guide id="3" orient="horz" pos="1185" userDrawn="1">
          <p15:clr>
            <a:srgbClr val="FBAE40"/>
          </p15:clr>
        </p15:guide>
        <p15:guide id="4" pos="7582" userDrawn="1">
          <p15:clr>
            <a:srgbClr val="FBAE40"/>
          </p15:clr>
        </p15:guide>
        <p15:guide id="5" orient="horz" pos="2160" userDrawn="1">
          <p15:clr>
            <a:srgbClr val="FBAE40"/>
          </p15:clr>
        </p15:guide>
        <p15:guide id="6" orient="horz" pos="27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hne Inha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BF3501-D631-4746-91CD-A784A16722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963" y="333375"/>
            <a:ext cx="11018835" cy="8858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de-AT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de-AT"/>
          </a:p>
        </p:txBody>
      </p:sp>
      <p:pic>
        <p:nvPicPr>
          <p:cNvPr id="8" name="Grafik 7" descr="Ein Bild, das Text, ClipArt, Vektorgrafiken enthält.&#10;&#10;Automatisch generierte Beschreibung">
            <a:extLst>
              <a:ext uri="{FF2B5EF4-FFF2-40B4-BE49-F238E27FC236}">
                <a16:creationId xmlns:a16="http://schemas.microsoft.com/office/drawing/2014/main" id="{C29B931B-4808-46A3-B511-9B7983FAF3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8515" y="6163527"/>
            <a:ext cx="468000" cy="468000"/>
          </a:xfrm>
          <a:prstGeom prst="rect">
            <a:avLst/>
          </a:prstGeom>
        </p:spPr>
      </p:pic>
      <p:sp>
        <p:nvSpPr>
          <p:cNvPr id="7" name="Foliennummernplatzhalter 2">
            <a:extLst>
              <a:ext uri="{FF2B5EF4-FFF2-40B4-BE49-F238E27FC236}">
                <a16:creationId xmlns:a16="http://schemas.microsoft.com/office/drawing/2014/main" id="{4540EB90-4A3D-4685-A17F-E26FFAD29F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3797" y="333738"/>
            <a:ext cx="682627" cy="275862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0E40EEB2-94EA-48F0-9B08-6FEB6C71BF29}" type="slidenum">
              <a:rPr lang="de-AT" smtClean="0"/>
              <a:pPr/>
              <a:t>‹#›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8D78067-D080-6138-DB43-E075CE420E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500" y="627579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Grandview" panose="020B0502040204020203" pitchFamily="34" charset="0"/>
              </a:defRPr>
            </a:lvl1pPr>
          </a:lstStyle>
          <a:p>
            <a:r>
              <a:rPr lang="de-DE">
                <a:latin typeface="Grandview" panose="020B0502040204020203" pitchFamily="34" charset="0"/>
              </a:rPr>
              <a:t>© SOLVVision GmbH</a:t>
            </a:r>
          </a:p>
        </p:txBody>
      </p:sp>
      <p:sp>
        <p:nvSpPr>
          <p:cNvPr id="9" name="KI-Hinweis"/>
          <p:cNvSpPr txBox="1"/>
          <p:nvPr userDrawn="1"/>
        </p:nvSpPr>
        <p:spPr>
          <a:xfrm>
            <a:off x="4432300" y="6275794"/>
            <a:ext cx="3327400" cy="365125"/>
          </a:xfrm>
          <a:prstGeom prst="rect">
            <a:avLst/>
          </a:prstGeom>
          <a:noFill/>
        </p:spPr>
        <p:txBody>
          <a:bodyPr wrap="none" lIns="0" rIns="0" rtlCol="0" anchor="ctr"/>
          <a:lstStyle/>
          <a:p>
            <a:pPr algn="ctr"/>
            <a:r>
              <a:rPr lang="de-DE" sz="900" dirty="0">
                <a:solidFill>
                  <a:srgbClr val="7F8385"/>
                </a:solidFill>
                <a:latin typeface="Grandview" panose="020B0502040204020203" pitchFamily="34" charset="0"/>
              </a:rPr>
              <a:t>This document was created with the support of AI.</a:t>
            </a:r>
          </a:p>
        </p:txBody>
      </p:sp>
    </p:spTree>
    <p:extLst>
      <p:ext uri="{BB962C8B-B14F-4D97-AF65-F5344CB8AC3E}">
        <p14:creationId xmlns:p14="http://schemas.microsoft.com/office/powerpoint/2010/main" val="25706600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7537" userDrawn="1">
          <p15:clr>
            <a:srgbClr val="FBAE40"/>
          </p15:clr>
        </p15:guide>
        <p15:guide id="3" orient="horz" pos="1185" userDrawn="1">
          <p15:clr>
            <a:srgbClr val="FBAE40"/>
          </p15:clr>
        </p15:guide>
        <p15:guide id="4" pos="7582" userDrawn="1">
          <p15:clr>
            <a:srgbClr val="FBAE40"/>
          </p15:clr>
        </p15:guide>
        <p15:guide id="5" orient="horz" pos="2160" userDrawn="1">
          <p15:clr>
            <a:srgbClr val="FBAE40"/>
          </p15:clr>
        </p15:guide>
        <p15:guide id="6" orient="horz" pos="278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hne Titel ohne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 descr="Ein Bild, das Text, ClipArt, Vektorgrafiken enthält.&#10;&#10;Automatisch generierte Beschreibung">
            <a:extLst>
              <a:ext uri="{FF2B5EF4-FFF2-40B4-BE49-F238E27FC236}">
                <a16:creationId xmlns:a16="http://schemas.microsoft.com/office/drawing/2014/main" id="{C29B931B-4808-46A3-B511-9B7983FAF3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8515" y="6163527"/>
            <a:ext cx="468000" cy="468000"/>
          </a:xfrm>
          <a:prstGeom prst="rect">
            <a:avLst/>
          </a:prstGeom>
        </p:spPr>
      </p:pic>
      <p:sp>
        <p:nvSpPr>
          <p:cNvPr id="11" name="Foliennummernplatzhalter 2">
            <a:extLst>
              <a:ext uri="{FF2B5EF4-FFF2-40B4-BE49-F238E27FC236}">
                <a16:creationId xmlns:a16="http://schemas.microsoft.com/office/drawing/2014/main" id="{577BD0AC-8E37-6F40-82A0-CCF35FF009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3797" y="333738"/>
            <a:ext cx="682627" cy="275862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0E40EEB2-94EA-48F0-9B08-6FEB6C71BF29}" type="slidenum">
              <a:rPr lang="de-AT" smtClean="0"/>
              <a:pPr/>
              <a:t>‹#›</a:t>
            </a:fld>
            <a:endParaRPr lang="de-AT"/>
          </a:p>
        </p:txBody>
      </p:sp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91457D9B-3C54-EE60-0B00-D1A3D5C3D0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500" y="627579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Grandview" panose="020B0502040204020203" pitchFamily="34" charset="0"/>
              </a:defRPr>
            </a:lvl1pPr>
          </a:lstStyle>
          <a:p>
            <a:r>
              <a:rPr lang="de-DE">
                <a:latin typeface="Grandview" panose="020B0502040204020203" pitchFamily="34" charset="0"/>
              </a:rPr>
              <a:t>© SOLVVision GmbH</a:t>
            </a:r>
          </a:p>
        </p:txBody>
      </p:sp>
      <p:sp>
        <p:nvSpPr>
          <p:cNvPr id="12" name="KI-Hinweis"/>
          <p:cNvSpPr txBox="1"/>
          <p:nvPr userDrawn="1"/>
        </p:nvSpPr>
        <p:spPr>
          <a:xfrm>
            <a:off x="4432300" y="6275794"/>
            <a:ext cx="3327400" cy="365125"/>
          </a:xfrm>
          <a:prstGeom prst="rect">
            <a:avLst/>
          </a:prstGeom>
          <a:noFill/>
        </p:spPr>
        <p:txBody>
          <a:bodyPr wrap="none" lIns="0" rIns="0" rtlCol="0" anchor="ctr"/>
          <a:lstStyle/>
          <a:p>
            <a:pPr algn="ctr"/>
            <a:r>
              <a:rPr lang="de-DE" sz="900" dirty="0">
                <a:solidFill>
                  <a:srgbClr val="7F8385"/>
                </a:solidFill>
                <a:latin typeface="Grandview" panose="020B0502040204020203" pitchFamily="34" charset="0"/>
              </a:rPr>
              <a:t>This document was created with the support of AI.</a:t>
            </a:r>
          </a:p>
        </p:txBody>
      </p:sp>
    </p:spTree>
    <p:extLst>
      <p:ext uri="{BB962C8B-B14F-4D97-AF65-F5344CB8AC3E}">
        <p14:creationId xmlns:p14="http://schemas.microsoft.com/office/powerpoint/2010/main" val="1659558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7537" userDrawn="1">
          <p15:clr>
            <a:srgbClr val="FBAE40"/>
          </p15:clr>
        </p15:guide>
        <p15:guide id="3" orient="horz" pos="1185" userDrawn="1">
          <p15:clr>
            <a:srgbClr val="FBAE40"/>
          </p15:clr>
        </p15:guide>
        <p15:guide id="4" pos="7582" userDrawn="1">
          <p15:clr>
            <a:srgbClr val="FBAE40"/>
          </p15:clr>
        </p15:guide>
        <p15:guide id="5" orient="horz" pos="2160" userDrawn="1">
          <p15:clr>
            <a:srgbClr val="FBAE40"/>
          </p15:clr>
        </p15:guide>
        <p15:guide id="6" orient="horz" pos="34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gne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Text, ClipArt, Vektorgrafiken enthält.&#10;&#10;Automatisch generierte Beschreibung">
            <a:extLst>
              <a:ext uri="{FF2B5EF4-FFF2-40B4-BE49-F238E27FC236}">
                <a16:creationId xmlns:a16="http://schemas.microsoft.com/office/drawing/2014/main" id="{588946C9-C570-4677-9954-15DA3C2599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4419600"/>
            <a:ext cx="1481505" cy="14815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27A5819-E8E1-2A45-89FF-E077A3F31585}"/>
              </a:ext>
            </a:extLst>
          </p:cNvPr>
          <p:cNvSpPr txBox="1"/>
          <p:nvPr userDrawn="1"/>
        </p:nvSpPr>
        <p:spPr>
          <a:xfrm>
            <a:off x="8417563" y="4915693"/>
            <a:ext cx="30886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noProof="0">
                <a:latin typeface="Grandview" panose="020B0502040204020203" pitchFamily="34" charset="0"/>
              </a:rPr>
              <a:t>Envisioning tomorrow.</a:t>
            </a:r>
          </a:p>
        </p:txBody>
      </p:sp>
      <p:pic>
        <p:nvPicPr>
          <p:cNvPr id="6" name="Grafik 8">
            <a:extLst>
              <a:ext uri="{FF2B5EF4-FFF2-40B4-BE49-F238E27FC236}">
                <a16:creationId xmlns:a16="http://schemas.microsoft.com/office/drawing/2014/main" id="{9E20F3DD-7469-4D46-A4F8-87805E4503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773" y="524948"/>
            <a:ext cx="2412000" cy="479437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E1B69CB8-A9D9-4CC3-940D-CBB54C2A2011}"/>
              </a:ext>
            </a:extLst>
          </p:cNvPr>
          <p:cNvSpPr txBox="1"/>
          <p:nvPr userDrawn="1"/>
        </p:nvSpPr>
        <p:spPr>
          <a:xfrm>
            <a:off x="485773" y="4419600"/>
            <a:ext cx="3759200" cy="1918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Grandview" panose="020B0502040204020203" pitchFamily="34" charset="0"/>
              </a:rPr>
              <a:t>Your contact:</a:t>
            </a:r>
          </a:p>
          <a:p>
            <a:r>
              <a:rPr lang="de-DE" sz="1400" dirty="0">
                <a:latin typeface="Grandview" panose="020B0502040204020203" pitchFamily="34" charset="0"/>
              </a:rPr>
              <a:t>SOLVVision GmbH</a:t>
            </a:r>
          </a:p>
          <a:p>
            <a:r>
              <a:rPr lang="de-DE" sz="1400" dirty="0">
                <a:latin typeface="Grandview" panose="020B0502040204020203" pitchFamily="34" charset="0"/>
              </a:rPr>
              <a:t> </a:t>
            </a:r>
          </a:p>
          <a:p>
            <a:endParaRPr lang="de-DE" sz="1400" dirty="0">
              <a:latin typeface="Grandview" panose="020B0502040204020203" pitchFamily="34" charset="0"/>
            </a:endParaRPr>
          </a:p>
          <a:p>
            <a:r>
              <a:rPr lang="de-DE" sz="1400" dirty="0">
                <a:latin typeface="Grandview" panose="020B0502040204020203" pitchFamily="34" charset="0"/>
              </a:rPr>
              <a:t>Email: </a:t>
            </a:r>
            <a:r>
              <a:rPr lang="de-DE" sz="1400" dirty="0">
                <a:latin typeface="Grandview" panose="020B0502040204020203" pitchFamily="34" charset="0"/>
                <a:hlinkClick r:id="rId4"/>
              </a:rPr>
              <a:t>info@solvvision.de</a:t>
            </a:r>
            <a:r>
              <a:rPr lang="de-DE" sz="1400" dirty="0">
                <a:latin typeface="Grandview" panose="020B0502040204020203" pitchFamily="34" charset="0"/>
              </a:rPr>
              <a:t> </a:t>
            </a:r>
          </a:p>
          <a:p>
            <a:r>
              <a:rPr lang="de-DE" sz="1400" dirty="0">
                <a:latin typeface="Grandview" panose="020B0502040204020203" pitchFamily="34" charset="0"/>
              </a:rPr>
              <a:t/>
            </a:r>
            <a:r>
              <a:rPr lang="de-DE" sz="1400" dirty="0">
                <a:latin typeface="Grandview" panose="020B0502040204020203" pitchFamily="34" charset="0"/>
                <a:hlinkClick r:id="rId4"/>
              </a:rPr>
              <a:t/>
            </a:r>
          </a:p>
          <a:p>
            <a:endParaRPr lang="de-DE" sz="1400" dirty="0">
              <a:latin typeface="Grandview" panose="020B0502040204020203" pitchFamily="34" charset="0"/>
            </a:endParaRPr>
          </a:p>
          <a:p>
            <a:r>
              <a:rPr lang="de-DE" sz="1400" dirty="0">
                <a:latin typeface="Grandview" panose="020B0502040204020203" pitchFamily="34" charset="0"/>
              </a:rPr>
              <a:t>Web: www.SOLVVision.de </a:t>
            </a:r>
          </a:p>
        </p:txBody>
      </p:sp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7035337C-5451-04CE-95B9-153FED013B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500" y="627579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Grandview" panose="020B0502040204020203" pitchFamily="34" charset="0"/>
              </a:defRPr>
            </a:lvl1pPr>
          </a:lstStyle>
          <a:p>
            <a:r>
              <a:rPr lang="de-DE">
                <a:latin typeface="Grandview" panose="020B0502040204020203" pitchFamily="34" charset="0"/>
              </a:rPr>
              <a:t>© SOLVVision GmbH</a:t>
            </a:r>
          </a:p>
        </p:txBody>
      </p:sp>
      <p:sp>
        <p:nvSpPr>
          <p:cNvPr id="9" name="KI-Hinweis"/>
          <p:cNvSpPr txBox="1"/>
          <p:nvPr userDrawn="1"/>
        </p:nvSpPr>
        <p:spPr>
          <a:xfrm>
            <a:off x="4432300" y="6275794"/>
            <a:ext cx="3327400" cy="365125"/>
          </a:xfrm>
          <a:prstGeom prst="rect">
            <a:avLst/>
          </a:prstGeom>
          <a:noFill/>
        </p:spPr>
        <p:txBody>
          <a:bodyPr wrap="none" lIns="0" rIns="0" rtlCol="0" anchor="ctr"/>
          <a:lstStyle/>
          <a:p>
            <a:pPr algn="ctr"/>
            <a:r>
              <a:rPr lang="de-DE" sz="900" dirty="0">
                <a:solidFill>
                  <a:srgbClr val="7F8385"/>
                </a:solidFill>
                <a:latin typeface="Grandview" panose="020B0502040204020203" pitchFamily="34" charset="0"/>
              </a:rPr>
              <a:t>This document was created with the support of AI.</a:t>
            </a:r>
          </a:p>
        </p:txBody>
      </p:sp>
    </p:spTree>
    <p:extLst>
      <p:ext uri="{BB962C8B-B14F-4D97-AF65-F5344CB8AC3E}">
        <p14:creationId xmlns:p14="http://schemas.microsoft.com/office/powerpoint/2010/main" val="1570746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0EBF648-019F-44E9-AA82-F1E50F15C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2" y="333375"/>
            <a:ext cx="11018836" cy="885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6" name="Foliennummernplatzhalter 2">
            <a:extLst>
              <a:ext uri="{FF2B5EF4-FFF2-40B4-BE49-F238E27FC236}">
                <a16:creationId xmlns:a16="http://schemas.microsoft.com/office/drawing/2014/main" id="{3EADA2CD-767E-4C1B-8582-48B30706B8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798" y="333375"/>
            <a:ext cx="682625" cy="276225"/>
          </a:xfrm>
          <a:prstGeom prst="rect">
            <a:avLst/>
          </a:prstGeom>
        </p:spPr>
        <p:txBody>
          <a:bodyPr anchor="t"/>
          <a:lstStyle>
            <a:lvl1pPr algn="r">
              <a:defRPr sz="1200">
                <a:latin typeface="Grandview" panose="020B0502040204020203" pitchFamily="34" charset="0"/>
              </a:defRPr>
            </a:lvl1pPr>
          </a:lstStyle>
          <a:p>
            <a:fld id="{01CECC54-EFE8-7448-A800-FF3514F0ACF0}" type="slidenum">
              <a:rPr lang="de-AT" smtClean="0"/>
              <a:pPr/>
              <a:t>‹#›</a:t>
            </a:fld>
            <a:endParaRPr lang="de-AT"/>
          </a:p>
        </p:txBody>
      </p:sp>
      <p:sp>
        <p:nvSpPr>
          <p:cNvPr id="5" name="Fußzeilenplatzhalter 2">
            <a:extLst>
              <a:ext uri="{FF2B5EF4-FFF2-40B4-BE49-F238E27FC236}">
                <a16:creationId xmlns:a16="http://schemas.microsoft.com/office/drawing/2014/main" id="{E66DCE1E-96A3-48C7-E44E-C4AC80EA41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500" y="627579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Grandview" panose="020B0502040204020203" pitchFamily="34" charset="0"/>
              </a:defRPr>
            </a:lvl1pPr>
          </a:lstStyle>
          <a:p>
            <a:r>
              <a:rPr lang="de-DE">
                <a:latin typeface="Grandview" panose="020B0502040204020203" pitchFamily="34" charset="0"/>
              </a:rPr>
              <a:t>© SOLVVision GmbH</a:t>
            </a:r>
          </a:p>
        </p:txBody>
      </p:sp>
    </p:spTree>
    <p:extLst>
      <p:ext uri="{BB962C8B-B14F-4D97-AF65-F5344CB8AC3E}">
        <p14:creationId xmlns:p14="http://schemas.microsoft.com/office/powerpoint/2010/main" val="3504799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9" r:id="rId2"/>
    <p:sldLayoutId id="2147483759" r:id="rId3"/>
    <p:sldLayoutId id="2147483761" r:id="rId4"/>
    <p:sldLayoutId id="2147483760" r:id="rId5"/>
    <p:sldLayoutId id="2147483680" r:id="rId6"/>
    <p:sldLayoutId id="2147483771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Grandview" panose="020B0502040204020203" pitchFamily="34" charset="0"/>
          <a:ea typeface="+mj-ea"/>
          <a:cs typeface="+mj-cs"/>
        </a:defRPr>
      </a:lvl1pPr>
    </p:titleStyle>
    <p:bodyStyle>
      <a:lvl1pPr marL="0" indent="-241200" algn="l" defTabSz="914400" rtl="0" eaLnBrk="1" latinLnBrk="0" hangingPunct="1">
        <a:lnSpc>
          <a:spcPct val="90000"/>
        </a:lnSpc>
        <a:spcBef>
          <a:spcPts val="1000"/>
        </a:spcBef>
        <a:buClr>
          <a:schemeClr val="tx1"/>
        </a:buClr>
        <a:buSzPct val="11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randview" panose="020B0502040204020203" pitchFamily="34" charset="0"/>
          <a:ea typeface="+mn-ea"/>
          <a:cs typeface="+mn-cs"/>
        </a:defRPr>
      </a:lvl1pPr>
      <a:lvl2pPr marL="482400" indent="-2052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SzPct val="11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randview" panose="020B0502040204020203" pitchFamily="34" charset="0"/>
          <a:ea typeface="+mn-ea"/>
          <a:cs typeface="+mn-cs"/>
        </a:defRPr>
      </a:lvl2pPr>
      <a:lvl3pPr marL="718888" indent="-2052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SzPct val="11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Grandview" panose="020B0502040204020203" pitchFamily="34" charset="0"/>
          <a:ea typeface="+mn-ea"/>
          <a:cs typeface="+mn-cs"/>
        </a:defRPr>
      </a:lvl3pPr>
      <a:lvl4pPr marL="964900" indent="-22005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SzPct val="110000"/>
        <a:buFont typeface="Arial" panose="020B0604020202020204" pitchFamily="34" charset="0"/>
        <a:buChar char="•"/>
        <a:tabLst>
          <a:tab pos="2243138" algn="l"/>
        </a:tabLst>
        <a:defRPr sz="1300" kern="1200">
          <a:solidFill>
            <a:schemeClr val="tx1"/>
          </a:solidFill>
          <a:latin typeface="Grandview" panose="020B0502040204020203" pitchFamily="34" charset="0"/>
          <a:ea typeface="+mn-ea"/>
          <a:cs typeface="+mn-cs"/>
        </a:defRPr>
      </a:lvl4pPr>
      <a:lvl5pPr marL="1197188" indent="-1989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SzPct val="110000"/>
        <a:buFont typeface="Arial" panose="020B0604020202020204" pitchFamily="34" charset="0"/>
        <a:buChar char="•"/>
        <a:tabLst>
          <a:tab pos="1974850" algn="l"/>
        </a:tabLst>
        <a:defRPr sz="1200" kern="1200">
          <a:solidFill>
            <a:schemeClr val="tx1"/>
          </a:solidFill>
          <a:latin typeface="Grandview" panose="020B050204020402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  <p15:guide id="3" pos="7537" userDrawn="1">
          <p15:clr>
            <a:srgbClr val="F26B43"/>
          </p15:clr>
        </p15:guide>
        <p15:guide id="4" pos="189" userDrawn="1">
          <p15:clr>
            <a:srgbClr val="F26B43"/>
          </p15:clr>
        </p15:guide>
        <p15:guide id="5" orient="horz" pos="210" userDrawn="1">
          <p15:clr>
            <a:srgbClr val="F26B43"/>
          </p15:clr>
        </p15:guide>
        <p15:guide id="6" orient="horz" pos="1185" userDrawn="1">
          <p15:clr>
            <a:srgbClr val="F26B43"/>
          </p15:clr>
        </p15:guide>
        <p15:guide id="7" orient="horz" pos="4178" userDrawn="1">
          <p15:clr>
            <a:srgbClr val="F26B43"/>
          </p15:clr>
        </p15:guide>
        <p15:guide id="8" orient="horz" pos="278" userDrawn="1">
          <p15:clr>
            <a:srgbClr val="F26B43"/>
          </p15:clr>
        </p15:guide>
        <p15:guide id="9" pos="7582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59F6A01D-81DE-E5F6-5F45-A94403F6D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1" y="2401888"/>
            <a:ext cx="10834609" cy="671512"/>
          </a:xfrm>
        </p:spPr>
        <p:txBody>
          <a:bodyPr>
            <a:normAutofit fontScale="90000"/>
          </a:bodyPr>
          <a:lstStyle/>
          <a:p>
            <a:r>
              <a:t>Local LLM Capability Assessment</a:t>
            </a:r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3863ABE-CE14-64D4-6201-9A41CCC2D9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4961" y="3098800"/>
            <a:ext cx="10834608" cy="671512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3" name="Textfeld 6">
            <a:extLst>
              <a:ext uri="{FF2B5EF4-FFF2-40B4-BE49-F238E27FC236}">
                <a16:creationId xmlns:a16="http://schemas.microsoft.com/office/drawing/2014/main" id="{57E1E289-FAEC-7520-6E44-82BE9C7D3E74}"/>
              </a:ext>
            </a:extLst>
          </p:cNvPr>
          <p:cNvSpPr txBox="1"/>
          <p:nvPr/>
        </p:nvSpPr>
        <p:spPr>
          <a:xfrm>
            <a:off x="1128652" y="5987500"/>
            <a:ext cx="4006055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1200" dirty="0">
                <a:solidFill>
                  <a:srgbClr val="57686C"/>
                </a:solidFill>
              </a:rPr>
              <a:t>Eschersheimer Landstr. 14 | 60322 Frankfurt am Main  </a:t>
            </a:r>
            <a:endParaRPr lang="en-US" dirty="0">
              <a:solidFill>
                <a:srgbClr val="57686C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E4CFC2-C3C0-7319-2C09-5D262C9FC5BE}"/>
              </a:ext>
            </a:extLst>
          </p:cNvPr>
          <p:cNvSpPr txBox="1"/>
          <p:nvPr/>
        </p:nvSpPr>
        <p:spPr>
          <a:xfrm>
            <a:off x="7913152" y="5986311"/>
            <a:ext cx="240345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1200">
                <a:solidFill>
                  <a:srgbClr val="57686C"/>
                </a:solidFill>
              </a:rPr>
              <a:t>Zielstattstr 19 | 81379 München</a:t>
            </a:r>
            <a:endParaRPr lang="en-US">
              <a:solidFill>
                <a:srgbClr val="57686C"/>
              </a:solidFill>
            </a:endParaRP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29BBAAA6-8E54-98CC-7709-EFF5ABC80367}"/>
              </a:ext>
            </a:extLst>
          </p:cNvPr>
          <p:cNvSpPr/>
          <p:nvPr/>
        </p:nvSpPr>
        <p:spPr>
          <a:xfrm>
            <a:off x="50475" y="4305302"/>
            <a:ext cx="6143413" cy="1443110"/>
          </a:xfrm>
          <a:custGeom>
            <a:avLst/>
            <a:gdLst/>
            <a:ahLst/>
            <a:cxnLst/>
            <a:rect l="l" t="t" r="r" b="b"/>
            <a:pathLst>
              <a:path w="9144000" h="2068830">
                <a:moveTo>
                  <a:pt x="0" y="0"/>
                </a:moveTo>
                <a:lnTo>
                  <a:pt x="9144000" y="0"/>
                </a:lnTo>
                <a:lnTo>
                  <a:pt x="9144000" y="2068830"/>
                </a:lnTo>
                <a:lnTo>
                  <a:pt x="0" y="20688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E275937F-1D8E-441A-3FBF-EFC93AEA3740}"/>
              </a:ext>
            </a:extLst>
          </p:cNvPr>
          <p:cNvSpPr/>
          <p:nvPr/>
        </p:nvSpPr>
        <p:spPr>
          <a:xfrm>
            <a:off x="6414347" y="4305301"/>
            <a:ext cx="5727178" cy="1443110"/>
          </a:xfrm>
          <a:custGeom>
            <a:avLst/>
            <a:gdLst/>
            <a:ahLst/>
            <a:cxnLst/>
            <a:rect l="l" t="t" r="r" b="b"/>
            <a:pathLst>
              <a:path w="8677957" h="2017625">
                <a:moveTo>
                  <a:pt x="0" y="0"/>
                </a:moveTo>
                <a:lnTo>
                  <a:pt x="8677957" y="0"/>
                </a:lnTo>
                <a:lnTo>
                  <a:pt x="8677957" y="2017625"/>
                </a:lnTo>
                <a:lnTo>
                  <a:pt x="0" y="20176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1295798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/>
        <p:txBody>
          <a:bodyPr wrap="square"/>
          <a:lstStyle/>
          <a:p>
            <a:r>
              <a:t>Why we tested local models</a:t>
            </a:r>
          </a:p>
          <a:p>
            <a:r>
              <a:t>What we ran: 10 realistic challenges per model</a:t>
            </a:r>
          </a:p>
          <a:p>
            <a:r>
              <a:t>Results: game development (stress test)</a:t>
            </a:r>
          </a:p>
          <a:p>
            <a:r>
              <a:t>Results: ServiceNow story writing</a:t>
            </a:r>
          </a:p>
          <a:p>
            <a:r>
              <a:t>Recommendation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we tested local models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34961" y="2934986"/>
            <a:ext cx="384048" cy="384048"/>
          </a:xfrm>
          <a:prstGeom prst="roundRect">
            <a:avLst/>
          </a:prstGeom>
          <a:solidFill>
            <a:srgbClr val="A70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Motivation: cost, control, privacy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3566160" cy="1554480"/>
          </a:xfrm>
          <a:prstGeom prst="roundRect">
            <a:avLst/>
          </a:prstGeom>
          <a:solidFill>
            <a:srgbClr val="A709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2000" b="1">
                <a:solidFill>
                  <a:srgbClr val="FFFFFF"/>
                </a:solidFill>
              </a:rPr>
              <a:t>Cost &amp; control</a:t>
            </a:r>
          </a:p>
          <a:p>
            <a:r>
              <a:rPr sz="1200">
                <a:solidFill>
                  <a:srgbClr val="FFFFFF"/>
                </a:solidFill>
              </a:rPr>
              <a:t>Open-source models on our own endpoint: no per-call fees, no usage ceilings.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463040"/>
            <a:ext cx="3566160" cy="1554480"/>
          </a:xfrm>
          <a:prstGeom prst="roundRect">
            <a:avLst/>
          </a:prstGeom>
          <a:solidFill>
            <a:srgbClr val="293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2000" b="1">
                <a:solidFill>
                  <a:srgbClr val="FFFFFF"/>
                </a:solidFill>
              </a:rPr>
              <a:t>Data privacy</a:t>
            </a:r>
          </a:p>
          <a:p>
            <a:r>
              <a:rPr sz="1200">
                <a:solidFill>
                  <a:srgbClr val="FFFFFF"/>
                </a:solidFill>
              </a:rPr>
              <a:t>ServiceNow-sensitive data never leaves our network — no cloud exposure.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291840"/>
            <a:ext cx="3566160" cy="1554480"/>
          </a:xfrm>
          <a:prstGeom prst="roundRect">
            <a:avLst/>
          </a:prstGeom>
          <a:solidFill>
            <a:srgbClr val="293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2000" b="1">
                <a:solidFill>
                  <a:srgbClr val="FFFFFF"/>
                </a:solidFill>
              </a:rPr>
              <a:t>Extensibility</a:t>
            </a:r>
          </a:p>
          <a:p>
            <a:r>
              <a:rPr sz="1200">
                <a:solidFill>
                  <a:srgbClr val="FFFFFF"/>
                </a:solidFill>
              </a:rPr>
              <a:t>Fine-tunable, extensible with custom skills like our Claude-based plugins.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3291840"/>
            <a:ext cx="3566160" cy="1554480"/>
          </a:xfrm>
          <a:prstGeom prst="roundRect">
            <a:avLst/>
          </a:prstGeom>
          <a:solidFill>
            <a:srgbClr val="A709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2000" b="1">
                <a:solidFill>
                  <a:srgbClr val="FFFFFF"/>
                </a:solidFill>
              </a:rPr>
              <a:t>Risk managed</a:t>
            </a:r>
          </a:p>
          <a:p>
            <a:r>
              <a:rPr sz="1200">
                <a:solidFill>
                  <a:srgbClr val="FFFFFF"/>
                </a:solidFill>
              </a:rPr>
              <a:t>Anything adopted keeps human review before deployment.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ran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34961" y="2934986"/>
            <a:ext cx="384048" cy="384048"/>
          </a:xfrm>
          <a:prstGeom prst="roundRect">
            <a:avLst/>
          </a:prstGeom>
          <a:solidFill>
            <a:srgbClr val="A70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Identical challenges, three models, zero assistance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749039" cy="2011680"/>
          </a:xfrm>
          <a:prstGeom prst="roundRect">
            <a:avLst/>
          </a:prstGeom>
          <a:solidFill>
            <a:srgbClr val="293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2000" b="1">
                <a:solidFill>
                  <a:srgbClr val="FFFFFF"/>
                </a:solidFill>
              </a:rPr>
              <a:t>The benchmark</a:t>
            </a:r>
          </a:p>
          <a:p>
            <a:r>
              <a:rPr sz="1200">
                <a:solidFill>
                  <a:srgbClr val="FFFFFF"/>
                </a:solidFill>
              </a:rPr>
              <a:t>10 hard game/app prompts (physics puzzles, 3D worlds, racing games, monorepo architectures) plus ServiceNow story writing. Each model receives the identical prompt — one shot, no feedback, no human help.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371600"/>
            <a:ext cx="3749039" cy="2011680"/>
          </a:xfrm>
          <a:prstGeom prst="roundRect">
            <a:avLst/>
          </a:prstGeom>
          <a:solidFill>
            <a:srgbClr val="A709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2000" b="1">
                <a:solidFill>
                  <a:srgbClr val="FFFFFF"/>
                </a:solidFill>
              </a:rPr>
              <a:t>The contenders</a:t>
            </a:r>
          </a:p>
          <a:p>
            <a:r>
              <a:rPr sz="1200">
                <a:solidFill>
                  <a:srgbClr val="FFFFFF"/>
                </a:solidFill>
              </a:rPr>
              <a:t>GLM 5.3 Flash (fast/small) · GLM 5.2 (larger, same family) · GPT-OSS 120B (our biggest open model). Frontier APIs (Claude) quoted as the quality bar.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657600"/>
            <a:ext cx="777240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2000" b="1">
                <a:solidFill>
                  <a:srgbClr val="293133"/>
                </a:solidFill>
              </a:rPr>
              <a:t>Measured honestly</a:t>
            </a:r>
          </a:p>
          <a:p>
            <a:r>
              <a:rPr sz="1200">
                <a:solidFill>
                  <a:srgbClr val="293133"/>
                </a:solidFill>
              </a:rPr>
              <a:t>Automated browser verification: does it boot, animate, react to clicks? Every failure recorded — no dressing up.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game development (stress test)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34961" y="2934986"/>
            <a:ext cx="384048" cy="384048"/>
          </a:xfrm>
          <a:prstGeom prst="roundRect">
            <a:avLst/>
          </a:prstGeom>
          <a:solidFill>
            <a:srgbClr val="A70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Games: how many became playable?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2377440" cy="1371600"/>
          </a:xfrm>
          <a:prstGeom prst="roundRect">
            <a:avLst/>
          </a:prstGeom>
          <a:solidFill>
            <a:srgbClr val="F2F2F2"/>
          </a:solidFill>
          <a:ln w="3175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93133"/>
                </a:solidFill>
              </a:rPr>
              <a:t>GLM 5.3 Flash</a:t>
            </a:r>
          </a:p>
          <a:p>
            <a:r>
              <a:rPr sz="2200" b="1">
                <a:solidFill>
                  <a:srgbClr val="E68A00"/>
                </a:solidFill>
              </a:rPr>
              <a:t>3 of 10 playable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371600"/>
            <a:ext cx="2377440" cy="1371600"/>
          </a:xfrm>
          <a:prstGeom prst="roundRect">
            <a:avLst/>
          </a:prstGeom>
          <a:solidFill>
            <a:srgbClr val="F2F2F2"/>
          </a:solidFill>
          <a:ln w="3175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93133"/>
                </a:solidFill>
              </a:rPr>
              <a:t>GLM 5.2</a:t>
            </a:r>
          </a:p>
          <a:p>
            <a:r>
              <a:rPr sz="2200" b="1">
                <a:solidFill>
                  <a:srgbClr val="E68A00"/>
                </a:solidFill>
              </a:rPr>
              <a:t>4 of 10 playable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0" y="1371600"/>
            <a:ext cx="2377440" cy="1371600"/>
          </a:xfrm>
          <a:prstGeom prst="roundRect">
            <a:avLst/>
          </a:prstGeom>
          <a:solidFill>
            <a:srgbClr val="F2F2F2"/>
          </a:solidFill>
          <a:ln w="317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93133"/>
                </a:solidFill>
              </a:rPr>
              <a:t>GPT-OSS 120B</a:t>
            </a:r>
          </a:p>
          <a:p>
            <a:r>
              <a:rPr sz="2200" b="1">
                <a:solidFill>
                  <a:srgbClr val="C62828"/>
                </a:solidFill>
              </a:rPr>
              <a:t>0 of 10 playable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108960"/>
            <a:ext cx="7772400" cy="1737360"/>
          </a:xfrm>
          <a:prstGeom prst="roundRect">
            <a:avLst/>
          </a:prstGeom>
          <a:solidFill>
            <a:srgbClr val="293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2000" b="1">
                <a:solidFill>
                  <a:srgbClr val="FFFFFF"/>
                </a:solidFill>
              </a:rPr>
              <a:t>The key insight</a:t>
            </a:r>
          </a:p>
          <a:p>
            <a:r>
              <a:rPr sz="1200">
                <a:solidFill>
                  <a:srgbClr val="FFFFFF"/>
                </a:solidFill>
              </a:rPr>
              <a:t>Even our biggest model (120B) produced ZERO playable games in one shot. Failures were small but fatal: one missing import, one typo in a shader, one unfinished script. The models WRITE code well — they cannot RUN and CHECK their own code. That last mile is the gap.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206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</a:rPr>
              <a:t>Detail per prompt: results/frontier_summary.md in the ai-benchmark repository.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ServiceNow story writing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34961" y="2934986"/>
            <a:ext cx="384048" cy="384048"/>
          </a:xfrm>
          <a:prstGeom prst="roundRect">
            <a:avLst/>
          </a:prstGeom>
          <a:solidFill>
            <a:srgbClr val="A70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ServiceNow: one test, promising signal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749039" cy="2194560"/>
          </a:xfrm>
          <a:prstGeom prst="roundRect">
            <a:avLst/>
          </a:prstGeom>
          <a:solidFill>
            <a:srgbClr val="A709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2000" b="1">
                <a:solidFill>
                  <a:srgbClr val="FFFFFF"/>
                </a:solidFill>
              </a:rPr>
              <a:t>What exists</a:t>
            </a:r>
          </a:p>
          <a:p>
            <a:r>
              <a:rPr sz="1200">
                <a:solidFill>
                  <a:srgbClr val="FFFFFF"/>
                </a:solidFill>
              </a:rPr>
              <a:t>GLM 5.3 Flash produced a complete, professional Service Catalog story set: five user stories with Gherkin acceptance criteria. Well-structured, consultancy-grade text.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371600"/>
            <a:ext cx="3749039" cy="2194560"/>
          </a:xfrm>
          <a:prstGeom prst="roundRect">
            <a:avLst/>
          </a:prstGeom>
          <a:solidFill>
            <a:srgbClr val="293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2000" b="1">
                <a:solidFill>
                  <a:srgbClr val="FFFFFF"/>
                </a:solidFill>
              </a:rPr>
              <a:t>What is still open</a:t>
            </a:r>
          </a:p>
          <a:p>
            <a:r>
              <a:rPr sz="1200">
                <a:solidFill>
                  <a:srgbClr val="FFFFFF"/>
                </a:solidFill>
              </a:rPr>
              <a:t>Only one model tested so far. Stories not yet validated against a real ServiceNow schema. Development code (update sets) untested — that is the decisive second half.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840480"/>
            <a:ext cx="7772400" cy="9144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2000" b="1">
                <a:solidFill>
                  <a:srgbClr val="293133"/>
                </a:solidFill>
              </a:rPr>
              <a:t>Honest status</a:t>
            </a:r>
          </a:p>
          <a:p>
            <a:r>
              <a:rPr sz="1200">
                <a:solidFill>
                  <a:srgbClr val="293133"/>
                </a:solidFill>
              </a:rPr>
              <a:t>Text quality: promising. Code generation: unproven. Ranking the other models for ServiceNow today would be speculation, not data.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34961" y="2934986"/>
            <a:ext cx="384048" cy="384048"/>
          </a:xfrm>
          <a:prstGeom prst="roundRect">
            <a:avLst/>
          </a:prstGeom>
          <a:solidFill>
            <a:srgbClr val="A70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Where local models fit — and where they don't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749039" cy="22860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2000" b="1">
                <a:solidFill>
                  <a:srgbClr val="FFFFFF"/>
                </a:solidFill>
              </a:rPr>
              <a:t>Use local models for</a:t>
            </a:r>
          </a:p>
          <a:p>
            <a:r>
              <a:rPr sz="1200">
                <a:solidFill>
                  <a:srgbClr val="FFFFFF"/>
                </a:solidFill>
              </a:rPr>
              <a:t>Structured text drafting: stories, catalogs, summaries. Volume work with human review. Low-risk drafts where a colleague polishes the result.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371600"/>
            <a:ext cx="3749039" cy="2286000"/>
          </a:xfrm>
          <a:prstGeom prst="round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2000" b="1">
                <a:solidFill>
                  <a:srgbClr val="FFFFFF"/>
                </a:solidFill>
              </a:rPr>
              <a:t>Don't use local models for</a:t>
            </a:r>
          </a:p>
          <a:p>
            <a:r>
              <a:rPr sz="1200">
                <a:solidFill>
                  <a:srgbClr val="FFFFFF"/>
                </a:solidFill>
              </a:rPr>
              <a:t>Large, one-shot code generation. Every model tested failed the same way: small error, no ability to detect it, dead output. This needs models with execution feedback loops.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931920"/>
            <a:ext cx="7772400" cy="914400"/>
          </a:xfrm>
          <a:prstGeom prst="roundRect">
            <a:avLst/>
          </a:prstGeom>
          <a:solidFill>
            <a:srgbClr val="293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2000" b="1">
                <a:solidFill>
                  <a:srgbClr val="FFFFFF"/>
                </a:solidFill>
              </a:rPr>
              <a:t>Next step</a:t>
            </a:r>
          </a:p>
          <a:p>
            <a:r>
              <a:rPr sz="1200">
                <a:solidFill>
                  <a:srgbClr val="FFFFFF"/>
                </a:solidFill>
              </a:rPr>
              <a:t>Pilot: run real ServiceNow stories through GLM 5.3 Flash + GPT-OSS 120B with a deploy-to-sandbox check, then compare cost saving vs human fix-up time.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16fdb533-b8c9-49e4-b6d7-86e00ce0fd50"/>
</p:tagLst>
</file>

<file path=ppt/theme/theme1.xml><?xml version="1.0" encoding="utf-8"?>
<a:theme xmlns:a="http://schemas.openxmlformats.org/drawingml/2006/main" name="Office">
  <a:themeElements>
    <a:clrScheme name="SolVVision">
      <a:dk1>
        <a:srgbClr val="293133"/>
      </a:dk1>
      <a:lt1>
        <a:srgbClr val="FFFFFF"/>
      </a:lt1>
      <a:dk2>
        <a:srgbClr val="293133"/>
      </a:dk2>
      <a:lt2>
        <a:srgbClr val="F2F2F2"/>
      </a:lt2>
      <a:accent1>
        <a:srgbClr val="A70925"/>
      </a:accent1>
      <a:accent2>
        <a:srgbClr val="293133"/>
      </a:accent2>
      <a:accent3>
        <a:srgbClr val="3E85C6"/>
      </a:accent3>
      <a:accent4>
        <a:srgbClr val="AB3D51"/>
      </a:accent4>
      <a:accent5>
        <a:srgbClr val="C5DAEE"/>
      </a:accent5>
      <a:accent6>
        <a:srgbClr val="7F8385"/>
      </a:accent6>
      <a:hlink>
        <a:srgbClr val="A70925"/>
      </a:hlink>
      <a:folHlink>
        <a:srgbClr val="3E85C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3" id="{769FED3F-D519-1144-8255-CF25E877F40F}" vid="{C4CACD39-2963-2A4D-AF12-17D4DAABDC7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81fa5af4-5491-4d4d-baba-75796a848681">AM656ZNPTTJK-222725900-15</_dlc_DocId>
    <_dlc_DocIdUrl xmlns="81fa5af4-5491-4d4d-baba-75796a848681">
      <Url>https://solvvision.sharepoint.com/sites/OfficeVorlagen/_layouts/15/DocIdRedir.aspx?ID=AM656ZNPTTJK-222725900-15</Url>
      <Description>AM656ZNPTTJK-222725900-15</Description>
    </_dlc_DocIdUrl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2FDAF87667F964A8F9BF74A2100D13D" ma:contentTypeVersion="2" ma:contentTypeDescription="Ein neues Dokument erstellen." ma:contentTypeScope="" ma:versionID="b77d6ee65a1b810596c3439e46b34321">
  <xsd:schema xmlns:xsd="http://www.w3.org/2001/XMLSchema" xmlns:xs="http://www.w3.org/2001/XMLSchema" xmlns:p="http://schemas.microsoft.com/office/2006/metadata/properties" xmlns:ns2="81fa5af4-5491-4d4d-baba-75796a848681" xmlns:ns3="5e1faf28-e203-430f-b253-8053f72973f0" targetNamespace="http://schemas.microsoft.com/office/2006/metadata/properties" ma:root="true" ma:fieldsID="5f096f87f0dffd0119c485df4b5eaf7a" ns2:_="" ns3:_="">
    <xsd:import namespace="81fa5af4-5491-4d4d-baba-75796a848681"/>
    <xsd:import namespace="5e1faf28-e203-430f-b253-8053f72973f0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a5af4-5491-4d4d-baba-75796a848681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Wert der Dokument-ID" ma:description="Der Wert der diesem Element zugewiesenen Dokument-ID." ma:indexed="true" ma:internalName="_dlc_DocId" ma:readOnly="true">
      <xsd:simpleType>
        <xsd:restriction base="dms:Text"/>
      </xsd:simpleType>
    </xsd:element>
    <xsd:element name="_dlc_DocIdUrl" ma:index="9" nillable="true" ma:displayName="Dokument-ID" ma:description="Permanenter Hyperlink zu diesem Dok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1faf28-e203-430f-b253-8053f72973f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C6C6138F-BCAE-4CD6-B11D-041F70456475}">
  <ds:schemaRefs>
    <ds:schemaRef ds:uri="http://purl.org/dc/terms/"/>
    <ds:schemaRef ds:uri="3fdc55a5-5862-40e1-ada7-96404607744d"/>
    <ds:schemaRef ds:uri="c095e89a-212d-4381-9bb3-a9572ffa2125"/>
    <ds:schemaRef ds:uri="http://schemas.microsoft.com/office/2006/documentManagement/types"/>
    <ds:schemaRef ds:uri="http://www.w3.org/XML/1998/namespace"/>
    <ds:schemaRef ds:uri="http://purl.org/dc/elements/1.1/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81fa5af4-5491-4d4d-baba-75796a848681"/>
  </ds:schemaRefs>
</ds:datastoreItem>
</file>

<file path=customXml/itemProps2.xml><?xml version="1.0" encoding="utf-8"?>
<ds:datastoreItem xmlns:ds="http://schemas.openxmlformats.org/officeDocument/2006/customXml" ds:itemID="{4C943AE2-5A8E-4EB7-949F-25DD9633B23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2F4D0D6-8185-426A-BCEF-3612E5B4063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fa5af4-5491-4d4d-baba-75796a848681"/>
    <ds:schemaRef ds:uri="5e1faf28-e203-430f-b253-8053f72973f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7C77D553-BD75-4E60-A57D-F8A4BF3E2B0A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2</TotalTime>
  <Words>33</Words>
  <Application>Microsoft Macintosh PowerPoint</Application>
  <PresentationFormat>Widescreen</PresentationFormat>
  <Paragraphs>11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Grandview</vt:lpstr>
      <vt:lpstr>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Müller</dc:creator>
  <cp:lastModifiedBy>Thomas Müller</cp:lastModifiedBy>
  <cp:revision>1</cp:revision>
  <dcterms:created xsi:type="dcterms:W3CDTF">2026-06-16T14:43:43Z</dcterms:created>
  <dcterms:modified xsi:type="dcterms:W3CDTF">2026-06-16T14:46:16Z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0x01010002FDAF87667F964A8F9BF74A2100D13D</vt:lpwstr>
  </property>
  <property fmtid="{D5CDD505-2E9C-101B-9397-08002B2CF9AE}" pid="3" name="MediaServiceImageTags">
    <vt:lpwstr/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bool>false</vt:bool>
  </property>
  <property fmtid="{D5CDD505-2E9C-101B-9397-08002B2CF9AE}" pid="10" name="_dlc_DocIdItemGuid">
    <vt:lpwstr>b8378433-9190-49e7-b9ec-dc4e58b329ae</vt:lpwstr>
  </property>
  <property fmtid="{D5CDD505-2E9C-101B-9397-08002B2CF9AE}" pid="11" name="MSIP_Label_be1f5849-02de-4402-9ec9-4fd5b7c7332b_Enabled">
    <vt:lpwstr>true</vt:lpwstr>
  </property>
  <property fmtid="{D5CDD505-2E9C-101B-9397-08002B2CF9AE}" pid="12" name="MSIP_Label_be1f5849-02de-4402-9ec9-4fd5b7c7332b_SetDate">
    <vt:lpwstr>2026-06-07T14:52:30Z</vt:lpwstr>
  </property>
  <property fmtid="{D5CDD505-2E9C-101B-9397-08002B2CF9AE}" pid="13" name="MSIP_Label_be1f5849-02de-4402-9ec9-4fd5b7c7332b_Method">
    <vt:lpwstr>Standard</vt:lpwstr>
  </property>
  <property fmtid="{D5CDD505-2E9C-101B-9397-08002B2CF9AE}" pid="14" name="MSIP_Label_be1f5849-02de-4402-9ec9-4fd5b7c7332b_Name">
    <vt:lpwstr>internal</vt:lpwstr>
  </property>
  <property fmtid="{D5CDD505-2E9C-101B-9397-08002B2CF9AE}" pid="15" name="MSIP_Label_be1f5849-02de-4402-9ec9-4fd5b7c7332b_SiteId">
    <vt:lpwstr>efa87704-173f-47e7-932e-46309217062e</vt:lpwstr>
  </property>
  <property fmtid="{D5CDD505-2E9C-101B-9397-08002B2CF9AE}" pid="16" name="MSIP_Label_be1f5849-02de-4402-9ec9-4fd5b7c7332b_ActionId">
    <vt:lpwstr>32ccf879-b213-4879-a433-b973f699c397</vt:lpwstr>
  </property>
  <property fmtid="{D5CDD505-2E9C-101B-9397-08002B2CF9AE}" pid="17" name="MSIP_Label_be1f5849-02de-4402-9ec9-4fd5b7c7332b_ContentBits">
    <vt:lpwstr>0</vt:lpwstr>
  </property>
  <property fmtid="{D5CDD505-2E9C-101B-9397-08002B2CF9AE}" pid="18" name="MSIP_Label_be1f5849-02de-4402-9ec9-4fd5b7c7332b_Tag">
    <vt:lpwstr>50, 3, 0, 1</vt:lpwstr>
  </property>
</Properties>
</file>