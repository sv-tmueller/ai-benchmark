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274320"/>
            <a:ext cx="2377440" cy="2377440"/>
          </a:xfrm>
          <a:prstGeom prst="ellipse">
            <a:avLst/>
          </a:prstGeom>
          <a:solidFill>
            <a:srgbClr val="FF2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4663440"/>
            <a:ext cx="1737360" cy="1737360"/>
          </a:xfrm>
          <a:prstGeom prst="ellipse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977639"/>
            <a:ext cx="3794760" cy="566928"/>
          </a:xfrm>
          <a:prstGeom prst="roundRect">
            <a:avLst/>
          </a:prstGeom>
          <a:solidFill>
            <a:srgbClr val="B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0416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B2E"/>
                </a:solidFill>
                <a:latin typeface="Verdana"/>
              </a:rPr>
              <a:t>ai-benchmark  •  october 2026  •  100% honest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Verdana"/>
              </a:rPr>
              <a:t>GLM 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B6FF3C"/>
                </a:solidFill>
                <a:latin typeface="Verdana"/>
              </a:rPr>
              <a:t>THE EXTENDED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F0FF"/>
                </a:solidFill>
                <a:latin typeface="Verdana"/>
              </a:rPr>
              <a:t>what happened when the local model stopped being a vending machine</a:t>
            </a:r>
          </a:p>
          <a:p>
            <a:pPr algn="l"/>
            <a:r>
              <a:rPr sz="1600" b="0" i="0">
                <a:solidFill>
                  <a:srgbClr val="00F0FF"/>
                </a:solidFill>
                <a:latin typeface="Verdana"/>
              </a:rPr>
              <a:t>and became a whole dev team (with supervision)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2EC4"/>
                </a:solidFill>
                <a:latin typeface="Verdana"/>
              </a:rPr>
              <a:t>WHERE WE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Verdana"/>
              </a:rPr>
              <a:t>Single-shot code generation, browser-verified (not vibes-verified):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743200"/>
                <a:gridCol w="530352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0826"/>
                          </a:solidFill>
                          <a:latin typeface="Verdana"/>
                        </a:rPr>
                        <a:t>Model</a:t>
                      </a:r>
                    </a:p>
                  </a:txBody>
                  <a:tcPr marL="73152" marR="54864" marT="27432" marB="27432" anchor="t">
                    <a:solidFill>
                      <a:srgbClr val="FF2E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0826"/>
                          </a:solidFill>
                          <a:latin typeface="Verdana"/>
                        </a:rPr>
                        <a:t>Playable games</a:t>
                      </a:r>
                    </a:p>
                  </a:txBody>
                  <a:tcPr marL="73152" marR="54864" marT="27432" marB="27432" anchor="t">
                    <a:solidFill>
                      <a:srgbClr val="FF2E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0826"/>
                          </a:solidFill>
                          <a:latin typeface="Verdana"/>
                        </a:rPr>
                        <a:t>Signature failure</a:t>
                      </a:r>
                    </a:p>
                  </a:txBody>
                  <a:tcPr marL="73152" marR="54864" marT="27432" marB="27432" anchor="t">
                    <a:solidFill>
                      <a:srgbClr val="FF2EC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GLM 5.3 Flash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2 / 5 HTML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Shader compile deaths; truncation racing the reasoning budget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GLM 5.2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2 / 5 HTML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Plumbing: forgot to import THREE, duplicate declarations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gpt-oss-120b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0 / 5 HTML, 0 / 4 blueprints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Everything boots, nothing plays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Claude Sonnet 5.5 (spot check)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Superior on same prompt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Verdana"/>
                        </a:rPr>
                        <a:t>— (reference point, not a full run)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091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6FF3C"/>
                </a:solidFill>
                <a:latin typeface="Verdana"/>
              </a:rPr>
              <a:t>One apples-to-apples run (melon-jelly): GLM reached functional parity with Sonnet — with a clear polish deficit.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  <a:latin typeface="Verdana"/>
              </a:rPr>
              <a:t>THE NEW EXPERIMENT</a:t>
            </a:r>
          </a:p>
        </p:txBody>
      </p:sp>
      <p:sp>
        <p:nvSpPr>
          <p:cNvPr id="3" name="Chevron 2"/>
          <p:cNvSpPr/>
          <p:nvPr/>
        </p:nvSpPr>
        <p:spPr>
          <a:xfrm>
            <a:off x="548640" y="1371600"/>
            <a:ext cx="2103120" cy="914400"/>
          </a:xfrm>
          <a:prstGeom prst="chevron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0B2E"/>
                </a:solidFill>
                <a:latin typeface="Verdana"/>
              </a:rPr>
              <a:t>ARCHITECT</a:t>
            </a:r>
          </a:p>
        </p:txBody>
      </p:sp>
      <p:sp>
        <p:nvSpPr>
          <p:cNvPr id="5" name="Chevron 4"/>
          <p:cNvSpPr/>
          <p:nvPr/>
        </p:nvSpPr>
        <p:spPr>
          <a:xfrm>
            <a:off x="2743200" y="1371600"/>
            <a:ext cx="2103120" cy="914400"/>
          </a:xfrm>
          <a:prstGeom prst="chevron">
            <a:avLst/>
          </a:prstGeom>
          <a:solidFill>
            <a:srgbClr val="FF2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0B2E"/>
                </a:solidFill>
                <a:latin typeface="Verdana"/>
              </a:rPr>
              <a:t>DEVELOPER</a:t>
            </a:r>
          </a:p>
        </p:txBody>
      </p:sp>
      <p:sp>
        <p:nvSpPr>
          <p:cNvPr id="7" name="Chevron 6"/>
          <p:cNvSpPr/>
          <p:nvPr/>
        </p:nvSpPr>
        <p:spPr>
          <a:xfrm>
            <a:off x="4937760" y="1371600"/>
            <a:ext cx="2103120" cy="914400"/>
          </a:xfrm>
          <a:prstGeom prst="chevron">
            <a:avLst/>
          </a:prstGeom>
          <a:solidFill>
            <a:srgbClr val="B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0B2E"/>
                </a:solidFill>
                <a:latin typeface="Verdana"/>
              </a:rPr>
              <a:t>TESTER</a:t>
            </a:r>
          </a:p>
        </p:txBody>
      </p:sp>
      <p:sp>
        <p:nvSpPr>
          <p:cNvPr id="9" name="Chevron 8"/>
          <p:cNvSpPr/>
          <p:nvPr/>
        </p:nvSpPr>
        <p:spPr>
          <a:xfrm>
            <a:off x="7132320" y="1371600"/>
            <a:ext cx="2103120" cy="914400"/>
          </a:xfrm>
          <a:prstGeom prst="chevron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0B2E"/>
                </a:solidFill>
                <a:latin typeface="Verdana"/>
              </a:rPr>
              <a:t>REVIEWER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4630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AA"/>
                </a:solidFill>
                <a:latin typeface="Verdana"/>
              </a:rPr>
              <a:t>+  the same model playing LEAD, merging only after gates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Verdana"/>
              </a:rPr>
              <a:t>Same model, different job: GLM 5.3 orchestrated ITS OWN agent team — one architect, then developers, testers and reviewers per game — to build all 8 game prompts as playable single-file HTML.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Verdana"/>
              </a:rPr>
              <a:t>Merge rule: tester PASS + reviewer APPROVE. Real headless-Chromium verification. Honest verdicts only — no forged greens.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AA"/>
                </a:solidFill>
                <a:latin typeface="Verdana"/>
              </a:rPr>
              <a:t>(Yes, the model you're looking at graded its own homework. The gates were mechanical enough to keep it honest.)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6FF3C"/>
                </a:solidFill>
                <a:latin typeface="Verdana"/>
              </a:rPr>
              <a:t>HEADLINE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0" b="1" i="0">
                <a:solidFill>
                  <a:srgbClr val="B6FF3C"/>
                </a:solidFill>
                <a:latin typeface="Verdana"/>
              </a:rPr>
              <a:t>8/8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4630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Verdana"/>
              </a:rPr>
              <a:t>playable games shipped,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1945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EC4"/>
                </a:solidFill>
                <a:latin typeface="Verdana"/>
              </a:rPr>
              <a:t>vs 2/5 on the old single-shot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Verdana"/>
              </a:rPr>
              <a:t>• 8,616 lines of single-file game code, all committed &amp; merged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Verdana"/>
              </a:rPr>
              <a:t>• Every game booted, animated and played in real Chromium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Verdana"/>
              </a:rPr>
              <a:t>• Cheat guards attacked with teleport probes; pausers verified paused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Verdana"/>
              </a:rPr>
              <a:t>• 8 PRs merged behind independent tester + reviewer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166"/>
                </a:solidFill>
                <a:latin typeface="Verdana"/>
              </a:rPr>
              <a:t>THE SCOREBOARD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914400"/>
          <a:ext cx="111556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768096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0B2E"/>
                          </a:solidFill>
                          <a:latin typeface="Verdana"/>
                        </a:rPr>
                        <a:t>Game</a:t>
                      </a:r>
                    </a:p>
                  </a:txBody>
                  <a:tcPr marL="73152" marR="54864" marT="27432" marB="27432" anchor="t"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0B2E"/>
                          </a:solidFill>
                          <a:latin typeface="Verdana"/>
                        </a:rPr>
                        <a:t>Lines</a:t>
                      </a:r>
                    </a:p>
                  </a:txBody>
                  <a:tcPr marL="73152" marR="54864" marT="27432" marB="27432" anchor="t">
                    <a:solidFill>
                      <a:srgbClr val="FFD1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0B2E"/>
                          </a:solidFill>
                          <a:latin typeface="Verdana"/>
                        </a:rPr>
                        <a:t>Highlights</a:t>
                      </a:r>
                    </a:p>
                  </a:txBody>
                  <a:tcPr marL="73152" marR="54864" marT="27432" marB="27432" anchor="t">
                    <a:solidFill>
                      <a:srgbClr val="FFD16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melon-jelly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1,066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XPBD soft-body, 799 particles — fully offline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lava-lamp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937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Ray-marched WebGL wax — offline, deterministic replay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sunset-ocean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954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Gerstner waves + Preetham sky, 295k vertices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meridian-launch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1,164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Launch cinematics; exposure tuned 61%→0.9% blowout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minecraft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863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Voxel world, place/break, adversarial-proofed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mario-kart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1,119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Catmull-Rom circuit; anti-cheat lap guard survived attacks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horror-house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1,793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Ghost FSM chase; win/death flows verified end-to-end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last-flight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720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Verdana"/>
                        </a:rPr>
                        <a:t>Catch a crashing airliner; graded touchdowns</a:t>
                      </a:r>
                    </a:p>
                  </a:txBody>
                  <a:tcPr marL="73152" marR="54864" marT="27432" marB="27432" anchor="t">
                    <a:solidFill>
                      <a:srgbClr val="2410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6B"/>
                </a:solidFill>
                <a:latin typeface="Verdana"/>
              </a:rPr>
              <a:t>NOW THE FINE PRINT 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Verdana"/>
              </a:rPr>
              <a:t>It needed adult supervision.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Verdana"/>
              </a:rPr>
              <a:t>• ~10 of 30+ dispatched sub-agents died mid-task (timeouts on long outputs, gateway 504s)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Verdana"/>
              </a:rPr>
              <a:t>• One game took FOUR developer attempts — three died trying to write one giant file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Verdana"/>
              </a:rPr>
              <a:t>• The cure: forbid big outputs. Skeleton ≤150 lines, patches ≤120, commit constantly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Verdana"/>
              </a:rPr>
              <a:t>• Dead testers were re-run, never guessed — no verdict was forged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Verdana"/>
              </a:rPr>
              <a:t>• The lead (also GLM 5.3) hand-finished 3 games: exposure tuning, win-flow repair, crash 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FD166"/>
                </a:solidFill>
                <a:latin typeface="Verdana"/>
              </a:rPr>
              <a:t>Translation: the model completes the mission — if you bolt the seat into the cockpit.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  <a:latin typeface="Verdana"/>
              </a:rPr>
              <a:t>VS CLAUDE SONNET / OPUS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Your disappointment: measured, and largely justified.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212080" cy="502920"/>
          </a:xfrm>
          <a:prstGeom prst="rect">
            <a:avLst/>
          </a:prstGeom>
          <a:solidFill>
            <a:srgbClr val="FF2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0B2E"/>
                </a:solidFill>
                <a:latin typeface="Verdana"/>
              </a:rPr>
              <a:t>GLM 5.3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✔ Cheaper, local, private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✔ Great at bounded tasks: stories, rules, snippets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✘ Fragile on long outputs — dies without emission discipline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✘ Needed rescue on 3 of 8 games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✘ Polish gap vs Sonnet persists (melon-jelly spot check)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91640"/>
            <a:ext cx="5212080" cy="502920"/>
          </a:xfrm>
          <a:prstGeom prst="rect">
            <a:avLst/>
          </a:prstGeom>
          <a:solidFill>
            <a:srgbClr val="B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0B2E"/>
                </a:solidFill>
                <a:latin typeface="Verdana"/>
              </a:rPr>
              <a:t>Claude Sonnet / Opus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317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✔ Superior single-shot quality &amp; aesthetics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✔ Long generations survive without babysitting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✔ Reasoning translates into self-correction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✘ Expensive, external, data-leaves-the-building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Verdana"/>
              </a:rPr>
              <a:t>✘ Untested on OUR full battery — spot checks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AA"/>
                </a:solidFill>
                <a:latin typeface="Verdana"/>
              </a:rPr>
              <a:t>Fairness note: Claude never ran our 8-game gauntlet. The comparison is directional, not a league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EC4"/>
                </a:solidFill>
                <a:latin typeface="Verdana"/>
              </a:rPr>
              <a:t>WHAT THIS MEANS FOR SERVICENOW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5394960" cy="548640"/>
          </a:xfrm>
          <a:prstGeom prst="roundRect">
            <a:avLst/>
          </a:prstGeom>
          <a:solidFill>
            <a:srgbClr val="B6F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435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0B2E"/>
                </a:solidFill>
                <a:latin typeface="Verdana"/>
              </a:rPr>
              <a:t>GREEN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349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Verdana"/>
              </a:rPr>
              <a:t>Story writing, Gherkin criteria, individual Business Rules / Script Includes / Client Scripts — bounded, templated, proven flawless on text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394960" cy="548640"/>
          </a:xfrm>
          <a:prstGeom prst="round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4358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0B2E"/>
                </a:solidFill>
                <a:latin typeface="Verdana"/>
              </a:rPr>
              <a:t>YELLOW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874519"/>
            <a:ext cx="5349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Verdana"/>
              </a:rPr>
              <a:t>Whole update sets via agent pipeline: DOABLE — 8/8 proves the pattern — but budget for babysitting, staged commits and independent verification gates.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5394960" cy="5486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210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0B2E"/>
                </a:solidFill>
                <a:latin typeface="Verdana"/>
              </a:rPr>
              <a:t>RED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5349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Verdana"/>
              </a:rPr>
              <a:t>Unsupervised one-shot generation of large interconnected applications. Even Claude deserves a reviewer; GLM requires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566160"/>
            <a:ext cx="5394960" cy="1737360"/>
          </a:xfrm>
          <a:prstGeom prst="roundRect">
            <a:avLst/>
          </a:prstGeom>
          <a:solidFill>
            <a:srgbClr val="3A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00F0FF"/>
                </a:solidFill>
                <a:latin typeface="Verdana"/>
              </a:rPr>
              <a:t>Architecture is the moat:</a:t>
            </a:r>
          </a:p>
          <a:p>
            <a:pPr algn="l"/>
            <a:r>
              <a:rPr sz="1600" b="1" i="1">
                <a:solidFill>
                  <a:srgbClr val="00F0FF"/>
                </a:solidFill>
                <a:latin typeface="Verdana"/>
              </a:rPr>
              <a:t>prompt rigor beats model tier.</a:t>
            </a:r>
          </a:p>
          <a:p>
            <a:pPr algn="l"/>
            <a:r>
              <a:rPr sz="1600" b="1" i="1">
                <a:solidFill>
                  <a:srgbClr val="00F0FF"/>
                </a:solidFill>
                <a:latin typeface="Verdana"/>
              </a:rPr>
              <a:t>(the horror-house pattern)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6FF3C"/>
                </a:solidFill>
                <a:latin typeface="Verdana"/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1">
                <a:solidFill>
                  <a:srgbClr val="FFFFFF"/>
                </a:solidFill>
                <a:latin typeface="Verdana"/>
              </a:rPr>
              <a:t>“GLM 5.3 is a talented junior dev with a caffeine problem.”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• As a single-shot generator: mediocre — 2/5, brittle, needs luck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• As an orchestrated team WITH gates: 8/8, honest, shippable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• The gap to Claude is real: reliability and polish, not raw ability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• Cheap local throughput is unlocked by PROCESS, not by wishing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Verdana"/>
              </a:rPr>
              <a:t>• Keep frontier models for architecture &amp; final polish; keep GLM for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Verdana"/>
              </a:rPr>
              <a:t>sources: ai-benchmark batches #37, #97, #111, #112, #188  •  all numbers recounted from merged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